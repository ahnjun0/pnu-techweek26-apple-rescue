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시작 30초 — 농담이 아니라 약속으로 시작한다 (Winston, How to Speak).
대본: "이 발표가 끝나면, GPS 없이 바퀴와 나침반과 LiDAR 만으로 로봇이 자기 위치가 얼마나 틀리는지 스스로 알아채는 방법, 그리고 우리가 기준 숫자 하나하나를 어떻게 정했는지를 보시게 됩니다."
목차 슬라이드는 두지 않는다 — Peyton Jones: "Outline of my talk: conveys near zero information at the start".
공저자(팀원)는 표지에서 밝힌다 (Peyton Jones).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동기 2분 (Peyton Jones: 동기 20%, 첫 2분에 '무슨 문제이고 왜 어려운가').
숫자 하나로 어려움을 보인다: 첫 완주에서 빨간 사과 0/2 — 로봇은 소화기를 사과로 확정하고 방문했다.
GIF 1 로 '해냈다'를 먼저 보여 준다 (Winston: 첫 5분에 비전과 한 일).
근거: 대회 계획안·질의응답, 월드 파일 worlds/apartment.wbt (보행자 --speed=0.2).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아이디어 한 문장 30초. Stanley(JFR 2006) 3.1 이 설계 원칙을 한 문장으로 내세운 것처럼 — "Treat autonomous navigation as a software problem."
이 문장을 각 절 끝에서 반복한다 (Winston: cycling).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'17 cm 평면' 을 여기서 말해 둔다 — 뒤의 카펫(2 cm, Carpet.proto:209)과 사과(지름 10 cm) 문제의 복선.
주기 64 ms 는 대회 월드 basicTimeStep. 16 ms 기준으로 정한 틱 상수는 시작 시 같은 '시간' 이 되게 다시 계산한다.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강의자료 p4·p8·p93·p106·p148 의 인지(Perception) → 계획(Planning) → 행동(Action) 을 그대로 따른다.
주의: 강의는 프론티어 탐험(p104–105)과 FSM·Behavior Tree·Recovery(p127–147)를 '행동' 에 넣었다. 우리도 그 분류를 따른다.
SLAM(p92)은 인지의 끝 — 위치 추정과 지도를 한 틱에 함께 갱신한다.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1분. Stanley(JFR 2006) 3.1.4 와 같은 방식이다: "all data are logged. By using a special replay module, the software can be run on recorded data."
예: 모듈 실행과 제출 파일 실행의 상태 로그 605줄이 한 글자도 다르지 않았다. GPS→Supervisor 로 채점 방식을 바꾼 뒤에도 결과가 소수점까지 같았다.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2분. 식: Δs = r(ΔφL+ΔφR)/2, θ = atan2(m_x, m_y) (나침반 벡터 = (sinθ, cosθ)), 중점법 적분.
선 긋기(near miss, Winston): '벽에 끼어 헛도는 것과 다르다. 헛돌면 몸은 제자리인데 추정이 앞으로 가고, 이건 추정은 제자리인데 몸이 옆으로 간다.' 그래서 기존 끼임 감지(추정 위치 기준)로는 못 잡는다.
빈 월드에서는 64 ms 로 돌려도 비율 1.002 → 물리 주기 탓이 아님을 배제했다.
백업: docs/발표_기술해설.md 3장.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log-odds 로 쓰면 베이즈 갱신 P(벽|z) ∝ P(z|벽)P(벽) 이 곱셈에서 덧셈이 된다. 5 cm 칸 320×320 = 16×16 m.
역센서 모델 값: +0.9 (p=0.71), −0.4 (p=0.40). 판정: 막힘 l ≥ 0.8, 빔 l ≤ −0.4.
14번 = ceil((5 + 0.4)/0.4). 이것이 가짜 벽이 오래 남는 이유다.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Stanley 5.2 처럼 오탐을 숫자로 보인다 ("false positive rate drops from 12.6% to 0.002%").
사과는 지름 10 cm 라 LiDAR(17 cm) 로 거리를 못 잰다 → 카메라만으로. R=0.05 m, h=0.073 m, 초점거리 554 px.
녹화 668장 재판정: 소화기 오탐 10 → 0, YOLO 는 24장에서만 돌았다 (CPU 약 90 ms/장).
YOLO 를 문지기로 안 쓴 이유: 초기 측정에서 빨간 픽셀과 겹친 YOLO 검출이 390장 중 3장뿐.
25번 보면 확정 (카메라 128 ms → 최소 3.2초 관찰).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후보: 지도의 '빈 칸' 위에 찍힌 LiDAR 조각 (모양·색 무관) → 9스캔 중 2번 이상, 0.15 m/s 이상 움직였어야 사람.
등속 칼만: x=(x,y,vx,vy), F=[[1,0,Δt,0],[0,1,0,Δt],[0,0,1,0],[0,0,0,1]], Q=σa²GGᵀ (σa=1.0), H=[I 0], R=σz² I.
DWA 는 사람이 0.4·0.8·1.2초 뒤 있을 자리를 장애물로 본다. 전역 계획은 사람 둘레 1.2 m 를 비싸게.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강의 p93–103 (Global Planner / Global Path / Costmap / A*).
Dijkstra 대신 A* 인 이유: 같은 최단 경로를 휴리스틱으로 더 적게 탐색. D* Lite 도 구현해 비교했지만 320×320 에서는 A* 로 충분 (docs/계획기-비교-Astar-vs-DstarLite.md).
백업: docs/발표_기술해설.md 9장.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강의는 탐험을 '행동' 에 넣었다 (p104 탐험, p105 Frontier Exploration 과정). 그 분류를 따른다.
점수 = 로봇→경로 첫 점 거리 + 경로 길이. 4칸 미만 덩어리는 잡음, 설 자리가 0.7 m 넘게 밀리면 버림.
팀 관찰: '갔던 곳을 여러 번 가고, 갈 필요 없는 곳도 간다' → 원인 두 가지를 한계로 먼저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강의 p108–111 (Local Planner/Controller, DWA·TEB·MPPI), p116–125 (Look-ahead, 역기구학).
조준점 = 경로를 따라 max(0.20, 0.2×1.2)=0.24 m 앞. 창 폭 ±0.08 m/s, ±0.53 rad/s 라 119 후보도 촘촘하다 (팀 질문: '후보가 너무 적지 않나?' 의 답).
점수 J = 1.0·N(−|p8−g|) + 0.8·N(min(c,0.8)) − 2.0[v&lt;0] − 1.9[|v|≤0.01].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강의 p128–130: FSM 은 '상태가 적고 서로 복잡하게 얽히지 않을 때', BT 는 '예외 처리가 복잡할 때'. 우리 상태는 6개(SCAN·EXPLORE·SWEEP·APPROACH·RETURN·DONE)라 FSM 을 골랐다.
Recovery 는 강의 p142 의 Recovery Node 개념(주 행동 실패 시 회복 행동)과 같은 역할을 FSM 안에서 한다.
시간 예산: 제한 900초에서 1.5×(집까지 A* 경로 / 평균 속도) (최소 30초)를 남기고 무조건 복귀.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Stanley §10.3 'The Race' 처럼 무엇이 일어났는지 말하며 보여 준다.
전체 주행은 약 7분(433초) — 발표 시작 때 실시간으로 켜 두고 이 순서에 화면을 맞추거나, 결정적 장면은 GIF 로.
Peyton Jones: "Laptops break: leave a backup copy" — GIF 를 백업으로.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Stanley §11 Discussion 처럼 결과를 표로. 한 줄씩 무엇을 더했는지와 그 효과만 말한다.
마지막 줄을 우리가 먼저 짚는다: 로봇은 복귀했다고 판단했지만 실제로는 1.99 m 모자랐다 — 다음 장의 한계로 이어진다.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Peyton Jones: 질문은 기회다. 과장하지 않는다.
스캔 매칭 두 방식(격자 correlative, 정밀 Gauss-Newton)의 재생 비교표는 백업 슬라이드 / docs/발표_기술해설.md 3.6.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Winston: 마지막 장은 '기여' — 'Questions?' 나 '감사합니다' 로 끝내지 않는다. 이 장을 띄워 둔 채 질문을 받는다.
첫 장의 약속(자기 오차를 알아채는 방법, 기준을 정한 방법)을 지켰음을 한 문장으로 확인한다.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6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1234440"/>
            <a:ext cx="1371600" cy="137160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09728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절대 위치 없이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빨간 사과를 찾아 돌아오기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3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Autonomous Mobile Robot의 Search &amp; Rescue — Webots apartment, TurtleBot3 Burger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14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3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팀 이름  ·  팀원 이름 (여기에 적기)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과제: 모르는 집에서 빨간 사과 2개를 찾아 가까이 가고, 시작점으로 돌아온다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17320"/>
            <a:ext cx="3931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지도 없음 — 집 구조를 모른다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GNSS·절대 위치(Supervisor) 금지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기본 로봇 속도 초과 금지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보행자 1명이 로봇을 피하지 않고 걷는다 (0.2 m/s)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29184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 / 2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00507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D6D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첫 완주: 소화기를 사과로 알고 방문했다 — 문제의 크기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754880" y="1417320"/>
            <a:ext cx="3931920" cy="3017520"/>
          </a:xfrm>
          <a:prstGeom prst="rect">
            <a:avLst/>
          </a:prstGeom>
          <a:solidFill>
            <a:srgbClr val="F2F4F4"/>
          </a:solidFill>
          <a:ln w="15875">
            <a:solidFill>
              <a:srgbClr val="95A5A6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4892040" y="1417320"/>
            <a:ext cx="3657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6D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  GIF 1 — 전체 주행 타임랩스 (시작 → 사과 2개 → 복귀)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6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8046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문턱값은 측정에서 왔고,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켜서 나빠진 기능은 뺐다.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3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근거: 녹화·재생으로 같은 주행에서 방법을 바꿔 끼워 비교 · 뺀 것의 기록 docs/무엇을-빼기로-했나.md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인지  ·  p9–14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836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로봇과 센서 — LiDAR 는 바닥에서 17 cm 높이의 평면만 본다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512064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691640"/>
                <a:gridCol w="64008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무엇을 주나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주기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우리가 쓰는 곳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3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바퀴 엔코더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바퀴 누적 회전각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64 ms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이동 거리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나침반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북쪽 벡터 (방위)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64 ms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방향 θ — 누적 오차 없음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LiDAR LDS-01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360점, 0.12–3.5 m, 평면 1층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64 ms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지도 · 사람 · 충돌 회피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카메라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640×480, 시야 60°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128 ms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사과 (색 · 모양 · YOLO)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GPS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달지 않는다 (금지)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852160" y="1371600"/>
            <a:ext cx="2834640" cy="1600200"/>
          </a:xfrm>
          <a:prstGeom prst="roundRect">
            <a:avLst>
              <a:gd name="adj" fmla="val 5714"/>
            </a:avLst>
          </a:prstGeom>
          <a:solidFill>
            <a:srgbClr val="F2F4F4"/>
          </a:solidFill>
          <a:ln w="12700">
            <a:solidFill>
              <a:srgbClr val="F2F4F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035040" y="15087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복선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187452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카펫 두께 2 cm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사과 지름 10 cm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둘 다 LiDAR 에 안 보인다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강의의 파이프라인 그대로: 인지 → 계획 → 행동 (강의 p4)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325880"/>
            <a:ext cx="2560320" cy="868680"/>
          </a:xfrm>
          <a:prstGeom prst="roundRect">
            <a:avLst>
              <a:gd name="adj" fmla="val 10526"/>
            </a:avLst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3716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인지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81051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수집·분석  ·  강의 p8–92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44952" y="1627632"/>
            <a:ext cx="219456" cy="274320"/>
          </a:xfrm>
          <a:prstGeom prst="rightArrow">
            <a:avLst/>
          </a:prstGeom>
          <a:solidFill>
            <a:srgbClr val="5D6D7E"/>
          </a:solidFill>
          <a:ln w="12700">
            <a:solidFill>
              <a:srgbClr val="5D6D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2377440"/>
            <a:ext cx="2514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위치 추정 (엔코더+나침반)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점유 격자 지도 (log-odds)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사과: 색 → 두 거리 → YOLO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사람: 지도에 없고 움직이는 것 + 칼만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91840" y="1325880"/>
            <a:ext cx="2560320" cy="868680"/>
          </a:xfrm>
          <a:prstGeom prst="roundRect">
            <a:avLst>
              <a:gd name="adj" fmla="val 10526"/>
            </a:avLst>
          </a:prstGeom>
          <a:solidFill>
            <a:srgbClr val="B9770E"/>
          </a:solidFill>
          <a:ln w="12700">
            <a:solidFill>
              <a:srgbClr val="B9770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91840" y="13716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계획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181051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목표·경로 계획  ·  강의 p93–103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879592" y="1627632"/>
            <a:ext cx="219456" cy="274320"/>
          </a:xfrm>
          <a:prstGeom prst="rightArrow">
            <a:avLst/>
          </a:prstGeom>
          <a:solidFill>
            <a:srgbClr val="5D6D7E"/>
          </a:solidFill>
          <a:ln w="12700">
            <a:solidFill>
              <a:srgbClr val="5D6D7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337560" y="2377440"/>
            <a:ext cx="2514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Costmap: 벽 0.35 m 팽창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사람 둘레 비용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Global Planner: A*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0.3초마다 재계획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26480" y="1325880"/>
            <a:ext cx="2560320" cy="868680"/>
          </a:xfrm>
          <a:prstGeom prst="roundRect">
            <a:avLst>
              <a:gd name="adj" fmla="val 10526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26480" y="13716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행동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126480" y="181051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동작 제어  ·  강의 p104–147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172200" y="2377440"/>
            <a:ext cx="2514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탐험: 프론티어 (강의 p104–105)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Local Planner: DWA → 바퀴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Decision Making: FSM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Recovery: 되짚기·탈출·후진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어떻게 판단했나 — 녹화하고, 재생하고, 같은 주행에서 비교한다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548640" cy="548640"/>
          </a:xfrm>
          <a:prstGeom prst="ellipse">
            <a:avLst/>
          </a:prstGeom>
          <a:solidFill>
            <a:srgbClr val="1B2631"/>
          </a:solidFill>
          <a:ln w="12700">
            <a:solidFill>
              <a:srgbClr val="1B263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389888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기록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89888"/>
            <a:ext cx="649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 틱 LiDAR 스캔 · 추정 위치 · 정답 위치를 녹화 (tape.npz)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148840"/>
            <a:ext cx="548640" cy="548640"/>
          </a:xfrm>
          <a:prstGeom prst="ellipse">
            <a:avLst/>
          </a:prstGeom>
          <a:solidFill>
            <a:srgbClr val="1B2631"/>
          </a:solidFill>
          <a:ln w="12700">
            <a:solidFill>
              <a:srgbClr val="1B263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167128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재생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194560" y="2167128"/>
            <a:ext cx="649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Webots 없이 녹화를 다시 돌리며 방법만 바꿔 끼운다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926080"/>
            <a:ext cx="548640" cy="548640"/>
          </a:xfrm>
          <a:prstGeom prst="ellipse">
            <a:avLst/>
          </a:prstGeom>
          <a:solidFill>
            <a:srgbClr val="1B2631"/>
          </a:solidFill>
          <a:ln w="12700">
            <a:solidFill>
              <a:srgbClr val="1B263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944368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채점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2194560" y="2944368"/>
            <a:ext cx="649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정답 위치는 채점용 월드 사본에서만 (Supervisor) — 주행 코드엔 없다, 자동 검사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703320"/>
            <a:ext cx="548640" cy="548640"/>
          </a:xfrm>
          <a:prstGeom prst="ellipse">
            <a:avLst/>
          </a:prstGeom>
          <a:solidFill>
            <a:srgbClr val="1B2631"/>
          </a:solidFill>
          <a:ln w="12700">
            <a:solidFill>
              <a:srgbClr val="1B263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703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721608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재현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2194560" y="3721608"/>
            <a:ext cx="649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시뮬레이션은 결정적 — 같은 설정이면 로그가 소수점까지 같다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인지  ·  p57–62, 92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836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위치 추정 — 로봇이 자기 미끄러짐을 알아채게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539496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4251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① 관찰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63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복귀했다고 판단했는데 실제로는 시작점에서 1.99 m. 팀이 GUI 에서 '카펫에서 오차가 67.8 cm 로 뛴다' 를 발견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② 가설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63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방향은 나침반(절대 방위)이라 안 틀어진다 → 틀어지는 건 '거리'. (a) 바닥 탓 일정 비율 (b) 카펫 턱 미끄러짐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③ 기각한 대안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63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스캔 매칭 그냥 켜기: 오차 21 → 164 cm, 사과 1 → 0. 벽 근처 비용 기울기: 오차 951 cm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④ 기준값의 출처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63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(a) 직진 38구간 '바퀴 거리 / 실제 거리' 중앙값 0.983 → 반지름 0.033/0.983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63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(b) 나침반 회전 / 명령 회전: 평소 0.87–1.14, 카펫 턱 0–0.3 → 문턱 0.6 rad/s · 0.3초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⑤ 확인 · 한계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63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(a) 보정 후 비율 1.0015 (b) 녹화 재생에서 카펫 사건과 185 cm 튐을 모두 감지. 실제 주행 점수 개선은 측정 중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4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035040" y="1325880"/>
            <a:ext cx="2651760" cy="3291840"/>
          </a:xfrm>
          <a:prstGeom prst="rect">
            <a:avLst/>
          </a:prstGeom>
          <a:solidFill>
            <a:srgbClr val="F2F4F4"/>
          </a:solidFill>
          <a:ln w="15875">
            <a:solidFill>
              <a:srgbClr val="95A5A6"/>
            </a:solidFill>
            <a:prstDash val="dash"/>
          </a:ln>
        </p:spPr>
      </p:sp>
      <p:sp>
        <p:nvSpPr>
          <p:cNvPr id="7" name="Text 4"/>
          <p:cNvSpPr txBox="1"/>
          <p:nvPr/>
        </p:nvSpPr>
        <p:spPr>
          <a:xfrm>
            <a:off x="6172200" y="1325880"/>
            <a:ext cx="23774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6D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  GIF 2 — 카펫 턱 미끄러짐 (명령은 제자리 회전, 몸은 옆으로)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인지  ·  p53–55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836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지도 — 확률을 덧셈으로 (베이즈 필터의 log-odds)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7A6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 = log( p / (1 − p) )        l ← l + (맞음 +0.9 / 지나감 −0.4),   l ∈ [−3, +5]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031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17A6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1번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81635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D6D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벽은 한 번 맞으면 바로 '막힘'  (0.9 ≥ 0.8)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00400" y="21031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14번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200400" y="281635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D6D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굳은 벽(+5)을 지우려면 광선이 지나가야 하는 횟수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943600" y="21031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15 cm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281635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D6D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보행자가 문 한가운데 남긴 가짜 벽 → 방이 갇혀 보였다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8404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그래서 복귀는 '지도에 길이 없으면 지나온 길을 되짚는다' (행동 · Recovery)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인지  ·  p29–50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836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사과 인식 — 가짜를 하나씩 이름 붙여 걸렀다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7A6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카메라 한 장으로 거리를 두 번 잰다:   d크기 = R / sin(γ)      d바닥 = h / tan(δ)      → 둘이 맞아야 바닥의 공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55778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554480"/>
                <a:gridCol w="141732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가짜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4008" marR="64008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무엇을 봤나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4008" marR="64008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걸러낸 기준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4008" marR="64008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기준의 출처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4008" marR="64008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3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가까운 소화기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4008" marR="64008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첫 완주에서 확정·방문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4008" marR="64008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두 거리 차 ≤ 30%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4008" marR="64008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사과 1–7%, 소화기 81%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4008" marR="64008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먼 소화기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4008" marR="64008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195초 재방문 (23×72 px)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4008" marR="64008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세로/가로 ≤ 1.5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4008" marR="64008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거리 차 29% 로 통과한 사례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4008" marR="64008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누운 캔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4008" marR="64008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사람 검출 켠 실행마다 방문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4008" marR="64008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세로/가로 ≥ 0.67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4008" marR="64008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캔 26×11 = 0.42, 사과 1.0–1.2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4008" marR="64008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병·컵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4008" marR="64008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(예비)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4008" marR="64008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YOLO: bottle·cup 이면 버림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4008" marR="64008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사과 23장 중 23장 sports ball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4008" marR="64008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4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416052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YOLO 는 '문지기'가 아니라 '거부권' — 멀리 있는 사과를 자주 놓치기 때문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217920" y="1783080"/>
            <a:ext cx="2468880" cy="2834640"/>
          </a:xfrm>
          <a:prstGeom prst="rect">
            <a:avLst/>
          </a:prstGeom>
          <a:solidFill>
            <a:srgbClr val="F2F4F4"/>
          </a:solidFill>
          <a:ln w="15875">
            <a:solidFill>
              <a:srgbClr val="95A5A6"/>
            </a:solidFill>
            <a:prstDash val="dash"/>
          </a:ln>
        </p:spPr>
      </p:sp>
      <p:sp>
        <p:nvSpPr>
          <p:cNvPr id="9" name="Text 6"/>
          <p:cNvSpPr txBox="1"/>
          <p:nvPr/>
        </p:nvSpPr>
        <p:spPr>
          <a:xfrm>
            <a:off x="6355080" y="1783080"/>
            <a:ext cx="21945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6D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  GIF 3 — 소화기가 보이는데 확정되지 않고 지나침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인지  ·  p76–77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836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보행자 — 도망이 아니라 예측 (칼만 필터)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54864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4343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① 관찰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63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사람 검출을 끈 실행에서 보행자와 3.8초 닿음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② 가설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63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월드 파일: 보행자 --speed=0.2 = 로봇 최고 속도와 같다. Webots 보행자는 로봇을 피하지 않는다 → 갈 곳을 예측해야 한다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③ 기각한 대안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63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사람 없는 연습 월드에서 켜면 헛것 100% (maze0: 3,237회) → 연습 월드에선 끔. 두 스캔 차이로 낸 속도는 잡음(위치 오차 23 cm)이 더 컸다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④ 기준값의 출처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63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측정 잡음 σz = 0.23 m (실측 위치 오차) · 예측 1.2초 = DWA 가 굴려 보는 시간과 같게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⑤ 확인 · 한계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63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접촉 3.8초 → 0초 (사람 검출 350초, + 칼만 342초 완주)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4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126480" y="1325880"/>
            <a:ext cx="2560320" cy="3291840"/>
          </a:xfrm>
          <a:prstGeom prst="rect">
            <a:avLst/>
          </a:prstGeom>
          <a:solidFill>
            <a:srgbClr val="F2F4F4"/>
          </a:solidFill>
          <a:ln w="15875">
            <a:solidFill>
              <a:srgbClr val="95A5A6"/>
            </a:solidFill>
            <a:prstDash val="dash"/>
          </a:ln>
        </p:spPr>
      </p:sp>
      <p:sp>
        <p:nvSpPr>
          <p:cNvPr id="7" name="Text 4"/>
          <p:cNvSpPr txBox="1"/>
          <p:nvPr/>
        </p:nvSpPr>
        <p:spPr>
          <a:xfrm>
            <a:off x="6263640" y="1325880"/>
            <a:ext cx="22860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6D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  GIF 4 — 보행자 앞에서 멈추거나 비켜 보내기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 w="12700">
            <a:solidFill>
              <a:srgbClr val="B9770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계획  ·  p96–103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836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Costmap 과 A* — 벽을 로봇 크기만큼 부풀린다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2588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977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0.35 m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3911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D6D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팽창 = 몸 반경 0.13 + 안전거리 0.22 (정지거리 0.23 과 맞물림)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132588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977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0.28 m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03911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D6D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좁은 문에서 길이 없을 때 한 번 더 — '좁은 여유'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126480" y="13258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977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0.3 s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6126480" y="203911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D6D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재계획 주기 + 경로가 막히면 즉시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A*: f = g + h, 8방향, 대각선은 옆 두 칸이 모두 열려 있을 때만 (모서리 스치기 금지)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 = 옥타일 거리 — 칸 비용 ≥ 1 이라 과대추정하지 않는다 → 최단 경로 보장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사람 둘레 1.2 m 는 비용을 최대 4배로 (강의 Costmap 의 사회적 비용 층)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칸 경로를 직선으로 보이는 가장 먼 점까지 건너뛰어 꺾이는 곳만 남긴다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행동  ·  p104–105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836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탐험 — 프론티어 하나, 규칙 하나: A* 경로가 가장 짧은 곳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1920240" cy="914400"/>
          </a:xfrm>
          <a:prstGeom prst="roundRect">
            <a:avLst>
              <a:gd name="adj" fmla="val 10000"/>
            </a:avLst>
          </a:prstGeom>
          <a:solidFill>
            <a:srgbClr val="F2F4F4"/>
          </a:solidFill>
          <a:ln w="12700">
            <a:solidFill>
              <a:srgbClr val="F2F4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37160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 빈 칸 옆의 모르는 칸 = 프론티어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560320" y="1371600"/>
            <a:ext cx="1920240" cy="914400"/>
          </a:xfrm>
          <a:prstGeom prst="roundRect">
            <a:avLst>
              <a:gd name="adj" fmla="val 10000"/>
            </a:avLst>
          </a:prstGeom>
          <a:solidFill>
            <a:srgbClr val="F2F4F4"/>
          </a:solidFill>
          <a:ln w="12700">
            <a:solidFill>
              <a:srgbClr val="F2F4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51760" y="137160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2. 덩어리로 묶고 설 자리를 정한다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371600"/>
            <a:ext cx="1920240" cy="914400"/>
          </a:xfrm>
          <a:prstGeom prst="roundRect">
            <a:avLst>
              <a:gd name="adj" fmla="val 10000"/>
            </a:avLst>
          </a:prstGeom>
          <a:solidFill>
            <a:srgbClr val="F2F4F4"/>
          </a:solidFill>
          <a:ln w="12700">
            <a:solidFill>
              <a:srgbClr val="F2F4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754880" y="137160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 A* 로 정말 갈 수 있는지 확인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766560" y="1371600"/>
            <a:ext cx="1920240" cy="914400"/>
          </a:xfrm>
          <a:prstGeom prst="roundRect">
            <a:avLst>
              <a:gd name="adj" fmla="val 10000"/>
            </a:avLst>
          </a:prstGeom>
          <a:solidFill>
            <a:srgbClr val="F2F4F4"/>
          </a:solidFill>
          <a:ln w="12700">
            <a:solidFill>
              <a:srgbClr val="F2F4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0" y="137160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4. 경로가 가장 짧은 곳으로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1460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766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① 관찰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63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강의 p105 는 거리·예상 cost·새로 탐색할 영역 크기 등 기준을 제안한다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② 가설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63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여러 점수를 섞으면 월드마다 최선이 달라진다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③ 기각한 대안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63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크기 가점·회전 비용·카메라 이득을 섞은 버전: 월드마다 들쭉날쭉 → 뺐다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④ 기준값의 출처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63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연습 16월드: 최소 규칙으로 46–48 / 48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⑤ 확인 · 한계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63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한계: 실패한 목표가 3번 실패 전까지 다시 뽑힌다 · 가짜 벽이면 일찍 포기 (61초 사례)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행동  ·  p109–125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836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Local Planner — DWA 가 매 틱 바퀴에 넣을 값을 고른다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1920240" cy="1325880"/>
          </a:xfrm>
          <a:prstGeom prst="roundRect">
            <a:avLst>
              <a:gd name="adj" fmla="val 6897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417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동적 창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8308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가속 한계 안의 (v, ω)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 × 17 = 119 후보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60320" y="1371600"/>
            <a:ext cx="1920240" cy="1325880"/>
          </a:xfrm>
          <a:prstGeom prst="roundRect">
            <a:avLst>
              <a:gd name="adj" fmla="val 6897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651760" y="1417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예측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651760" y="178308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1.2초 원호 궤적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8점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63440" y="1371600"/>
            <a:ext cx="1920240" cy="1325880"/>
          </a:xfrm>
          <a:prstGeom prst="roundRect">
            <a:avLst>
              <a:gd name="adj" fmla="val 6897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54880" y="1417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거르기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178308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장애물·사람 예측점에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0.28 m 보다 가까우면 버림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766560" y="1371600"/>
            <a:ext cx="1920240" cy="1325880"/>
          </a:xfrm>
          <a:prstGeom prst="roundRect">
            <a:avLst>
              <a:gd name="adj" fmla="val 6897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0" y="1417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점수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0" y="178308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조준점에 가깝게 + 장애물에서 멀게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후진·정지 감점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2971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348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ωL = (v − ωB/2) / r      ωR = (v + ωB/2) / r      한쪽이 6.67 rad/s 를 넘으면 두 바퀴를 같은 비율로 줄인다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5204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같은 비율로 줄이는 이유: 한쪽만 자르면 회전 반경이 바뀐다 — 전진하며 최대로 돌 때 바깥 바퀴가 한계를 12–44% 넘는다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속도 규칙: 전진 상한 0.20 m/s (Burger 약 0.22), 모터 한계는 시작할 때 Webots 에서 읽어 대조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행동  ·  p127–147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836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Decision Making — FSM 과 Recovery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1371600" cy="685800"/>
          </a:xfrm>
          <a:prstGeom prst="ellipse">
            <a:avLst/>
          </a:prstGeom>
          <a:solidFill>
            <a:srgbClr val="1B2631"/>
          </a:solidFill>
          <a:ln w="12700">
            <a:solidFill>
              <a:srgbClr val="1B263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3258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SCAN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148840" y="1325880"/>
            <a:ext cx="1371600" cy="685800"/>
          </a:xfrm>
          <a:prstGeom prst="ellipse">
            <a:avLst/>
          </a:prstGeom>
          <a:solidFill>
            <a:srgbClr val="1B2631"/>
          </a:solidFill>
          <a:ln w="12700">
            <a:solidFill>
              <a:srgbClr val="1B263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148840" y="13258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EXPLORE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840480" y="1325880"/>
            <a:ext cx="1371600" cy="685800"/>
          </a:xfrm>
          <a:prstGeom prst="ellipse">
            <a:avLst/>
          </a:prstGeom>
          <a:solidFill>
            <a:srgbClr val="1B2631"/>
          </a:solidFill>
          <a:ln w="12700">
            <a:solidFill>
              <a:srgbClr val="1B263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40480" y="13258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APPROACH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532120" y="1325880"/>
            <a:ext cx="1371600" cy="68580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1B263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532120" y="13258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RETURN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223760" y="1325880"/>
            <a:ext cx="1371600" cy="685800"/>
          </a:xfrm>
          <a:prstGeom prst="ellipse">
            <a:avLst/>
          </a:prstGeom>
          <a:solidFill>
            <a:srgbClr val="1B2631"/>
          </a:solidFill>
          <a:ln w="12700">
            <a:solidFill>
              <a:srgbClr val="1B263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23760" y="13258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DONE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55778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240280"/>
                <a:gridCol w="2103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Recovery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4008" marR="64008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무엇을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4008" marR="64008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기준의 출처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4008" marR="64008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3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지나온 길 되짚기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4008" marR="64008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지도에 길이 3초 없으면 기록한 길을 거꾸로 (0.3 m 안 고리는 건너뜀)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4008" marR="64008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가짜 벽에 갇힘: 447초 시간 초과 → 297.6초 복귀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4008" marR="64008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눌림 탈출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4008" marR="64008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0.20 m 안 광선이 2개 이상이면 반대쪽으로 (공간 확인 후)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4008" marR="64008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광선 1개일 때 실제 거리 중앙값 339 cm (잡음), 3개↑ 33–36 cm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4008" marR="64008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목표 없어도 복귀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4008" marR="64008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사과를 못 찾아도 RETURN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4008" marR="64008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예전엔 61초 포기 후 시작점 4.55 m 앞에서 끝났다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4008" marR="64008" marT="45720" marB="45720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6217920" y="2240280"/>
            <a:ext cx="2468880" cy="2377440"/>
          </a:xfrm>
          <a:prstGeom prst="rect">
            <a:avLst/>
          </a:prstGeom>
          <a:solidFill>
            <a:srgbClr val="F2F4F4"/>
          </a:solidFill>
          <a:ln w="15875">
            <a:solidFill>
              <a:srgbClr val="95A5A6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6355080" y="224028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6D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  GIF 5 — 막힌 방에서 지나온 길을 되짚어 나오기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6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Webots 시연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3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지금부터 볼 것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8046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빨간 사과를 확정하는 순간 (카메라 오버레이)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보행자 앞에서 멈추거나 비켜 보내는 순간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시작점으로 돌아와 멈추는 순간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319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3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라이브가 안 되면 같은 설정의 녹화 GIF — 시뮬레이션은 결정적이라 같은 장면이 나온다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결과 — 무엇을 더했을 때 무엇이 좋아졌나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828800"/>
                <a:gridCol w="1280160"/>
                <a:gridCol w="3017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단계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73152" marB="73152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빨간 사과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73152" marB="73152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보행자 접촉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73152" marB="73152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복귀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73152" marB="73152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3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첫 완주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73152" marB="73152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 / 2 (소화기)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73152" marB="73152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73152" marB="73152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73152" marB="73152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 두 거리 일치 검사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73152" marB="73152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 / 2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73152" marB="73152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3.8초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73152" marB="73152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성공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73152" marB="73152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 사람 검출 · 칼만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73152" marB="73152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 / 2 (+ 캔 오탐)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73152" marB="73152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0초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73152" marB="73152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성공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73152" marB="73152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 모양 검사 · YOLO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73152" marB="73152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 / 2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73152" marB="73152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0초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73152" marB="73152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로봇은 성공 판단 — 실제 1.99 m 모자람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73152" marB="73152">
                    <a:lnL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DEC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apartment, 보행자 있음, 설정마다 한 번 실행 (결정적). 측정: debug/mission_check.py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한계 — 우리가 먼저 말한다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457200" cy="45720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!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3258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카펫 미끄러짐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D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번 걸리면 위치가 20–50 cm 튄다. 몇 번 걸리느냐는 경로에 따라 운이다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148840"/>
            <a:ext cx="457200" cy="45720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!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1031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스캔 매칭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834640" y="210312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D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녹화 재생에선 오차 186 → 21 cm. 실제 주행 점수 개선은 아직 확인 못 해 꺼 두었다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926080"/>
            <a:ext cx="457200" cy="45720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!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8803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낮은 물체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2834640" y="288036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D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다른 색 사과·캔은 LiDAR 에 안 보인다. 카메라로 계획 지도에 넣는 기능은 측정 중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3703320"/>
            <a:ext cx="457200" cy="45720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!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3657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표본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2834640" y="365760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D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월드 하나, 설정마다 한 번 실행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6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기여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502920" cy="50292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216152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절대 위치 없이, 나침반 대 바퀴 비교로 로봇이 자기 미끄러짐을 알아챈다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502920" cy="50292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1993392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LiDAR 없이 카메라 한 장으로 거리를 두 번 재서 사과와 가짜(소화기·캔)를 가른다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2788920"/>
            <a:ext cx="502920" cy="50292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88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770632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보행자와 속도가 같은 상황에서 칼만 예측으로 접촉 0초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3566160"/>
            <a:ext cx="502920" cy="50292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566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547872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문턱값에 측정 출처가 있고, 켜서 나빠진 기능은 기록과 함께 뺐다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출처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부산대 TECH WEEK Physical AI 강의자료 (김규래, 2026) — 인지·계획·행동 파이프라인 p4, 쪽 번호는 각 슬라이드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S. Thrun et al., Stanley: The Robot that Won the DARPA Grand Challenge, J. Field Robotics 23(9):661–692, 2006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S. Peyton Jones, J. Launchbury, J. Hughes, How to give a great research talk, Microsoft Research, 2016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P. H. Winston, How to Speak, MIT OpenCourseWare RES.TLL-005, 2018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B263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코드·측정 기록: github.com/ahnjun0/robot_hack (브랜치 competition) — docs/발표_기술해설.md, docs/발표_구성안.md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sar_rescue — 절대 위치 없이 빨간 사과를 찾아 돌아오기</dc:title>
  <dc:subject>PptxGenJS Presentation</dc:subject>
  <dc:creator>PptxGenJS</dc:creator>
  <cp:lastModifiedBy>PptxGenJS</cp:lastModifiedBy>
  <cp:revision>1</cp:revision>
  <dcterms:created xsi:type="dcterms:W3CDTF">2026-09-30T10:18:52Z</dcterms:created>
  <dcterms:modified xsi:type="dcterms:W3CDTF">2026-09-30T10:18:52Z</dcterms:modified>
</cp:coreProperties>
</file>
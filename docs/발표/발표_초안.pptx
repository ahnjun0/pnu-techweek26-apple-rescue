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15초. "저희 로봇은 GPS도, 지도도 없이 처음 보는 집에서 빨간 사과 두 개를 찾아 방문하고 시작점으로 돌아옵니다."
목차는 두지 않는다 (Peyton Jones).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장에서 Webots 재생 (1.0x). 이후 로봇이 도는 동안 슬라이드를 넘기고, 장면 시각에 Webots 로 넘어간다 (대본의 시각표).
보행자는 0.2 m/s 로 로봇 최고 속도와 같고, 로봇을 피하지 않는다. 첫 완주는 소화기를 사과로 확정해 0/2.
핵심 문장: 매 틱 녹화해 두고, 같은 주행을 재생하며 방법만 바꿔 비교했다 (Stanley 3.1.4 의 replay).
라이브가 멈추면 같은 설정의 녹화로 바꾼다 (시뮬레이션이 결정적이라 같은 장면).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인지가 '나는 어디 있고 주변에 뭐가 있나', 계획이 '어디로 갈까', 행동이 '지금 바퀴를 어떻게 돌릴까'.
주기: 엔코더·나침반·LiDAR 64 ms, 카메라 128 ms. GPS 는 달지 않는다.
'17 cm 평면' 이 카펫(미끄러짐)과 사과(카메라로 거리 재기) 문제의 복선이다.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방향은 나침반에서 읽어 누적 오차가 없다. 거리는 바퀴 → 카펫 턱에서 헛돌면 20-67 cm 씩 튄다.
미끄러짐: 나침반 회전/바퀴 회전 비가 평소 0.87-1.14, 카펫 0-0.3. 0.6 rad/s 넘게 0.3초 어긋나면 1초 후진, 그 자리를 피한다.
스캔 매칭: 지도의 거리장 D 에 스캔 점을 맞추는 가우스-뉴턴, x·y 만. 근거가 없는 방향(긴 복도)은 고치지 않는다.
처음의 격자 탐색 방식은 오히려 164 cm 까지 키워서 바꿨다. 녹화 재생에서는 186 → 21 cm.
바퀴 반지름도 이 월드에서 잰 거리에 맞춰 0.033 → 0.0336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사과는 LiDAR(17 cm)보다 낮아 카메라로만 잰다. 크기로 d = R/sin γ, 바닥 접점으로 d = h/tan δ (R=0.05, h=0.073 m). 진짜 바닥의 공이면 두 값이 맞아야 한다.
기준의 출처: 사과 1-7% vs 가까운 소화기 81% 어긋남 / 먼 소화기는 29% 로 통과해 세로/가로 3.1 로 걸렀다 / 캔 0.42.
YOLO 는 거부권으로만 - 멀리 있는 사과는 자주 놓쳐서 문지기로 쓰면 사과를 잃는다. 25번 보면 확정 (최소 3.2초).
보행자: LiDAR 로 '지도에 없는데 움직이는 것'. 두 스캔 차이로 속도를 내면 잡음(23 cm)이 속도보다 컸다 → 등속 칼만.
사람이 0.4·0.8·1.2초 뒤 있을 자리를 DWA 가 장애물로 보고, 전역 경로는 사람 둘레 1.2 m 를 비싸게 매긴다.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지도: log-odds 로 곱셈이 덧셈. 벽 +0.9, 통과 -0.4, 범위 [-3, 5]. 벽을 쉽게 잃지 않는 비대칭 - 대신 보행자가 15 cm 가짜 벽을 남긴다.
부풀리기: 몸 0.13 + 안전거리 0.22 = 0.35 m. 안전거리는 정지거리 0.23 m 와 맞물린다.
A*: 옥타일 휴리스틱은 실제 비용을 넘지 않아 최단 경로 보장. 탐험은 프론티어마다 설 자리를 정하고 A* 로 갈 수 있는지 확인한 뒤 가장 짧은 곳. 점수를 섞으면 월드마다 들쭉날쭉해서 규칙 하나로.
DWA: 가속 한계 안의 v 7개 × ω 17개, 목표에 가깝고 장애물에서 먼 것. 바퀴가 모터 한계를 넘으면 두 바퀴를 같은 비율로 줄여 회전 반경을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상태가 적고 얽히지 않아 상태 기계를 골랐다.
되짚기: 가짜 벽에 갇혀 200초를 헤맨 판이 있어 넣었다. 실제로 지나온 길이니 갈 수 있다는 근거가 있다.
눌림 탈출: 0.2 m 안 광선 1개일 때 실제 거리 중앙값 339 cm(잡음), 3개 이상일 때 33-36 cm → 2개 이상.
시간 예산: 제한 시간에서 1.5×(집까지 A* 길이 / 평균 속도)를 남기면 무엇을 하던 중이든 복귀.
결과: 482.8초, 최대 위치 오차 19.6 cm, 과일·캔 0/8 밀림. 진행은 0/2 → 1/2 → 2/2 (복귀 1.99 m 모자람) → 스캔 매칭·미끄러짐 감지로 0.34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라이브 시연의 예비 장. 라이브가 멈추거나 느리면 이 장으로 장면을 보여 준다.
모두 확정 설정의 사과 2/2 주행 기록(482.8초)에서 다시 그렸다 - 카펫 미끄러짐만 그 전 주행(302-308초).
위에서 본 지도: 회색은 로봇이 그린 지도, 초록은 실제 경로, 점선은 로봇이 추정한 경로.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한계는 우리가 먼저 말한다 (Peyton Jones).
좌우 맴돌기: 버벅인 19구간 중 15구간은 전진 후보가 100% 안전 - 여유가 아니라 방향 선택 문제. 방향 유지 가산점을 시험 중.
설정 민감도: 미끄러진 자리 표시가 서쪽 통로를 막으면 1/2, 포기 전에 표시를 풀면 2/2. 월드 하나, 설정마다 한 번 측정.
이 장을 띄운 채 질문을 받는다 (Winston: 마지막 장은 기여).
참고: 부산대 TECH WEEK Physical AI 교육 자료(2026) / Thrun et al., Stanley, J. Field Robotics 2006 / Peyton Jones et al., How to give a great research talk, 2016 / Winston, How to Speak, MIT OCW 2018.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gif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gif"/><Relationship Id="rId3" Type="http://schemas.openxmlformats.org/officeDocument/2006/relationships/image" Target="../media/image-8-3.gif"/><Relationship Id="rId4" Type="http://schemas.openxmlformats.org/officeDocument/2006/relationships/image" Target="../media/image-8-4.gif"/><Relationship Id="rId5" Type="http://schemas.openxmlformats.org/officeDocument/2006/relationships/image" Target="../media/image-8-5.gi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1234440"/>
            <a:ext cx="1371600" cy="1371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특명:</a:t>
            </a:r>
            <a:endParaRPr lang="en-US" sz="3400" dirty="0"/>
          </a:p>
          <a:p>
            <a:pPr eaLnBrk="0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 나간 빨간 사과 찾아오기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400" dirty="0">
                <a:solidFill>
                  <a:srgbClr val="CAD3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Webots apartment  ·  TurtleBot3 Burger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CAD3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로봇이아닙니다  ·  안준영  송지윤  배준호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과제: 모르는 집에서 빨간 사과 2개를 찾고 돌아오기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 없음</a:t>
            </a:r>
            <a:endParaRPr lang="en-US" sz="16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GNSS·절대 위치 금지</a:t>
            </a:r>
            <a:endParaRPr lang="en-US" sz="16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 한계 준수</a:t>
            </a:r>
            <a:endParaRPr lang="en-US" sz="16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로봇을 피하지 않는 보행자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/ 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30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완주: 소화기를 사과로 착각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234440"/>
            <a:ext cx="3749040" cy="2743200"/>
          </a:xfrm>
          <a:prstGeom prst="roundRect">
            <a:avLst>
              <a:gd name="adj" fmla="val 4000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1208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 ▶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0574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첫 사과 - 약 3분</a:t>
            </a:r>
            <a:endParaRPr lang="en-US" sz="1800" dirty="0"/>
          </a:p>
          <a:p>
            <a:pPr eaLnBrk="0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보행자 - 약 6분</a:t>
            </a:r>
            <a:endParaRPr lang="en-US" sz="1800" dirty="0"/>
          </a:p>
          <a:p>
            <a:pPr eaLnBrk="0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복귀 - 약 8분 반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문턱값은 측정에서 왔고, 켜서 나빠진 기능은 뺐다.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구조: 인지 → 계획 → 행동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44952" y="1371600"/>
            <a:ext cx="219456" cy="274320"/>
          </a:xfrm>
          <a:prstGeom prst="rightArrow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위치: 엔코더 + 나침반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지도: LiDAR 360°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사과: 카메라 60°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사람: LiDAR + 칼만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79592" y="1371600"/>
            <a:ext cx="219456" cy="274320"/>
          </a:xfrm>
          <a:prstGeom prst="rightArrow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011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 부풀리기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A* 경로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0.3초마다 재계획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011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프론티어 탐험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DWA 주행</a:t>
            </a:r>
            <a:endParaRPr lang="en-US" sz="1400" dirty="0"/>
          </a:p>
          <a:p>
            <a:pPr eaLnBrk="0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기계 · 복구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2F4F4"/>
          </a:solidFill>
          <a:ln w="12700">
            <a:solidFill>
              <a:srgbClr val="F2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LiDAR 는 17 cm 높이의 평면만 본다  →  </a:t>
            </a:r>
            <a:pPr eaLnBrk="0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카펫 2 cm, 사과 10 cm 는 안 보인다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 추정 - 미끄러짐을 알아채고, 지도에 맞춰 되돌린다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오도메트리 · 미끄러짐 감지</a:t>
            </a:r>
            <a:endParaRPr lang="en-US" sz="1300" dirty="0"/>
          </a:p>
        </p:txBody>
      </p:sp>
      <p:pic>
        <p:nvPicPr>
          <p:cNvPr id="6" name="Image 0" descr="docs/발표/assets/eq/o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4870094" cy="407822"/>
          </a:xfrm>
          <a:prstGeom prst="rect">
            <a:avLst/>
          </a:prstGeom>
        </p:spPr>
      </p:pic>
      <p:pic>
        <p:nvPicPr>
          <p:cNvPr id="7" name="Image 1" descr="docs/발표/assets/eq/sl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4550054" cy="35295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스캔 매칭</a:t>
            </a:r>
            <a:endParaRPr lang="en-US" sz="1300" dirty="0"/>
          </a:p>
        </p:txBody>
      </p:sp>
      <p:pic>
        <p:nvPicPr>
          <p:cNvPr id="9" name="Image 2" descr="docs/발표/assets/eq/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4670755" cy="21579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" y="34290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304 → 9.3 cm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142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최대 위치 오차 (스캔 매칭 끔 → 켬, 실제 주행)</a:t>
            </a:r>
            <a:endParaRPr lang="en-US" sz="1200" dirty="0"/>
          </a:p>
        </p:txBody>
      </p:sp>
      <p:pic>
        <p:nvPicPr>
          <p:cNvPr id="12" name="Image 3" descr="docs/발표/assets/gif/gif2_carpet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95700"/>
            <a:ext cx="2560320" cy="2877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인지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사과는 두 번 재서 거르고, 보행자는 예측해 비킨다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사과 - 카메라 한 장으로 거리 두 번</a:t>
            </a:r>
            <a:endParaRPr lang="en-US" sz="1300" dirty="0"/>
          </a:p>
        </p:txBody>
      </p:sp>
      <p:pic>
        <p:nvPicPr>
          <p:cNvPr id="6" name="Image 0" descr="docs/발표/assets/eq/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931920" cy="367633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</a:tblGrid>
              <a:tr h="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걸러낸 기준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가까운 소화기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두 거리 차 ≤ 30%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먼 소화기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세로/가로 ≤ 1.5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누운 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세로/가로 ≥ 0.67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병 · 컵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YOLO 거부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64008" marB="64008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보행자 - 칼만 필터로 1.2초 앞 자리</a:t>
            </a:r>
            <a:endParaRPr lang="en-US" sz="1300" dirty="0"/>
          </a:p>
        </p:txBody>
      </p:sp>
      <p:pic>
        <p:nvPicPr>
          <p:cNvPr id="9" name="Image 1" descr="docs/발표/assets/eq/k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2099462" cy="201168"/>
          </a:xfrm>
          <a:prstGeom prst="rect">
            <a:avLst/>
          </a:prstGeom>
        </p:spPr>
      </p:pic>
      <p:pic>
        <p:nvPicPr>
          <p:cNvPr id="10" name="Image 2" descr="docs/발표/assets/eq/kf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74520"/>
            <a:ext cx="3701491" cy="21031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754880" y="2423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117A6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3.8 → 0초</a:t>
            </a:r>
            <a:endParaRPr lang="en-US" sz="4000" dirty="0"/>
          </a:p>
        </p:txBody>
      </p:sp>
      <p:sp>
        <p:nvSpPr>
          <p:cNvPr id="12" name="Text 6"/>
          <p:cNvSpPr txBox="1"/>
          <p:nvPr/>
        </p:nvSpPr>
        <p:spPr>
          <a:xfrm>
            <a:off x="475488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보행자 접촉 (두 스캔 차이 → 칼만)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475488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잡음 0.23 m (실측)  ·  보행자 속도 = 로봇 최고 속도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계획 · 행동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 → 경로 → 바퀴 명령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</a:t>
            </a:r>
            <a:endParaRPr lang="en-US" sz="1300" dirty="0"/>
          </a:p>
        </p:txBody>
      </p:sp>
      <p:pic>
        <p:nvPicPr>
          <p:cNvPr id="7" name="Image 0" descr="docs/발표/assets/eq/logod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207008"/>
            <a:ext cx="3414827" cy="4576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6459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벽은 1번에 생기고, 지우려면 14번 통과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5740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벽 부풀리기</a:t>
            </a:r>
            <a:endParaRPr lang="en-US" sz="1300" dirty="0"/>
          </a:p>
        </p:txBody>
      </p:sp>
      <p:pic>
        <p:nvPicPr>
          <p:cNvPr id="11" name="Image 1" descr="docs/발표/assets/eq/inf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029968"/>
            <a:ext cx="3242158" cy="17769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11680" y="24688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좁은 문에서만 0.28 m 로 한 번 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B9770E"/>
          </a:solidFill>
          <a:ln w="12700">
            <a:solidFill>
              <a:srgbClr val="B9770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A* · 탐험</a:t>
            </a:r>
            <a:endParaRPr lang="en-US" sz="1300" dirty="0"/>
          </a:p>
        </p:txBody>
      </p:sp>
      <p:pic>
        <p:nvPicPr>
          <p:cNvPr id="15" name="Image 2" descr="docs/발표/assets/eq/a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852928"/>
            <a:ext cx="4184294" cy="19446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32918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경로가 가장 짧은 프론티어로 - 연습 월드 46-48 / 48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7033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" y="3703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DWA</a:t>
            </a:r>
            <a:endParaRPr lang="en-US" sz="1300" dirty="0"/>
          </a:p>
        </p:txBody>
      </p:sp>
      <p:pic>
        <p:nvPicPr>
          <p:cNvPr id="19" name="Image 3" descr="docs/발표/assets/eq/dw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3675888"/>
            <a:ext cx="4179265" cy="1793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011680" y="411480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119개 후보를 1.2초 굴려 보고, 0.28 m 안이면 버린다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상태 기계와 복구, 그리고 결과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37160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탐색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1188720"/>
            <a:ext cx="137160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접근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32120" y="1188720"/>
            <a:ext cx="137160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23760" y="1188720"/>
            <a:ext cx="1371600" cy="548640"/>
          </a:xfrm>
          <a:prstGeom prst="ellipse">
            <a:avLst/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1188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9659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길이 막히면 지나온 길 되짚기</a:t>
            </a:r>
            <a:endParaRPr lang="en-US" sz="13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눌리면 트인 쪽으로 (광선 2개 이상)</a:t>
            </a:r>
            <a:endParaRPr lang="en-US" sz="1300" dirty="0"/>
          </a:p>
          <a:p>
            <a:pPr eaLnBrk="0"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사과가 없어도 반드시 복귀</a:t>
            </a:r>
            <a:endParaRPr lang="en-US" sz="1300" dirty="0"/>
          </a:p>
        </p:txBody>
      </p:sp>
      <p:pic>
        <p:nvPicPr>
          <p:cNvPr id="16" name="Image 0" descr="docs/발표/assets/eq/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057400"/>
            <a:ext cx="2282342" cy="407822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/ 2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빨간 사과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0초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32004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보행자 접촉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0.34 m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시작점까지 실제 거리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시연 장면 - 주행 기록으로 다시 그림</a:t>
            </a:r>
            <a:endParaRPr lang="en-US" sz="2200" dirty="0"/>
          </a:p>
        </p:txBody>
      </p:sp>
      <p:pic>
        <p:nvPicPr>
          <p:cNvPr id="3" name="Image 0" descr="docs/발표/assets/gif/gif1_ful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557" y="960120"/>
            <a:ext cx="1614704" cy="1645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55677" y="2633472"/>
            <a:ext cx="1980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주행</a:t>
            </a:r>
            <a:endParaRPr lang="en-US" sz="1100" dirty="0"/>
          </a:p>
        </p:txBody>
      </p:sp>
      <p:pic>
        <p:nvPicPr>
          <p:cNvPr id="5" name="Image 1" descr="docs/발표/assets/gif/gif3_apple_camera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301" y="960120"/>
            <a:ext cx="2194560" cy="1645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90421" y="2633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사과 확정 (카메라)</a:t>
            </a:r>
            <a:endParaRPr lang="en-US" sz="1100" dirty="0"/>
          </a:p>
        </p:txBody>
      </p:sp>
      <p:pic>
        <p:nvPicPr>
          <p:cNvPr id="7" name="Image 2" descr="docs/발표/assets/gif/gif4_pedestrian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901" y="960120"/>
            <a:ext cx="1617542" cy="1645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805021" y="2633472"/>
            <a:ext cx="198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보행자와 엇갈림</a:t>
            </a:r>
            <a:endParaRPr lang="en-US" sz="1100" dirty="0"/>
          </a:p>
        </p:txBody>
      </p:sp>
      <p:pic>
        <p:nvPicPr>
          <p:cNvPr id="9" name="Image 3" descr="docs/발표/assets/gif/gif2_carpet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80" y="2898648"/>
            <a:ext cx="1464301" cy="1645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2840000" y="4572000"/>
            <a:ext cx="1830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카펫 미끄러짐</a:t>
            </a:r>
            <a:endParaRPr lang="en-US" sz="1100" dirty="0"/>
          </a:p>
        </p:txBody>
      </p:sp>
      <p:pic>
        <p:nvPicPr>
          <p:cNvPr id="11" name="Image 4" descr="docs/발표/assets/gif/gif5_retrace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222" y="2898648"/>
            <a:ext cx="1313898" cy="1645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4624342" y="4572000"/>
            <a:ext cx="1679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지나온 길 되짚기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en-US" sz="22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한계와 기여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카펫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75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걸린 뒤에야 알아채고 빠져나온다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좌우 맴돌기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43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안전한데도 방향을 번갈아 고른다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500" b="1" dirty="0">
                <a:solidFill>
                  <a:srgbClr val="1B263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민감도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옵션 하나에 사과 1/2 와 2/2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B2631"/>
          </a:solidFill>
          <a:ln w="12700">
            <a:solidFill>
              <a:srgbClr val="1B26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737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나침반·바퀴 비교로 미끄러짐 감지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6888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거리를 두 번 재서 가짜 사과 걸러내기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315468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속도가 같은 보행자와 접촉 0초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840480"/>
            <a:ext cx="365760" cy="3657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문턱값에 측정 근거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특명: 집 나간 빨간 사과 찾아오기</dc:title>
  <dc:subject>PptxGenJS Presentation</dc:subject>
  <dc:creator>PptxGenJS</dc:creator>
  <cp:lastModifiedBy>PptxGenJS</cp:lastModifiedBy>
  <cp:revision>1</cp:revision>
  <dcterms:created xsi:type="dcterms:W3CDTF">2026-09-30T11:35:09Z</dcterms:created>
  <dcterms:modified xsi:type="dcterms:W3CDTF">2026-09-30T11:35:09Z</dcterms:modified>
</cp:coreProperties>
</file>